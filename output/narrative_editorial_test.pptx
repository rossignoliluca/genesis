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2880" cy="6858000"/>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11480"/>
            <a:ext cx="7315200" cy="457200"/>
          </a:xfrm>
          <a:prstGeom prst="rect">
            <a:avLst/>
          </a:prstGeom>
          <a:noFill/>
        </p:spPr>
        <p:txBody>
          <a:bodyPr wrap="none">
            <a:spAutoFit/>
          </a:bodyPr>
          <a:lstStyle/>
          <a:p>
            <a:r>
              <a:rPr sz="1500" b="1">
                <a:solidFill>
                  <a:srgbClr val="E8792B"/>
                </a:solidFill>
                <a:latin typeface="Arial"/>
              </a:rPr>
              <a:t>Rossignoli &amp; Partners</a:t>
            </a:r>
          </a:p>
        </p:txBody>
      </p:sp>
      <p:sp>
        <p:nvSpPr>
          <p:cNvPr id="6" name="TextBox 5"/>
          <p:cNvSpPr txBox="1"/>
          <p:nvPr/>
        </p:nvSpPr>
        <p:spPr>
          <a:xfrm>
            <a:off x="640080" y="868680"/>
            <a:ext cx="7315200" cy="365760"/>
          </a:xfrm>
          <a:prstGeom prst="rect">
            <a:avLst/>
          </a:prstGeom>
          <a:noFill/>
        </p:spPr>
        <p:txBody>
          <a:bodyPr wrap="none">
            <a:spAutoFit/>
          </a:bodyPr>
          <a:lstStyle/>
          <a:p>
            <a:r>
              <a:rPr sz="1200" i="1">
                <a:solidFill>
                  <a:srgbClr val="6B7B8D"/>
                </a:solidFill>
                <a:latin typeface="Arial"/>
              </a:rPr>
              <a:t>Independent Market Intelligence</a:t>
            </a:r>
          </a:p>
        </p:txBody>
      </p:sp>
      <p:sp>
        <p:nvSpPr>
          <p:cNvPr id="7" name="Rectangle 6"/>
          <p:cNvSpPr/>
          <p:nvPr/>
        </p:nvSpPr>
        <p:spPr>
          <a:xfrm>
            <a:off x="640080" y="1371600"/>
            <a:ext cx="3200400" cy="25400"/>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37360"/>
            <a:ext cx="10515600" cy="1463040"/>
          </a:xfrm>
          <a:prstGeom prst="rect">
            <a:avLst/>
          </a:prstGeom>
          <a:noFill/>
        </p:spPr>
        <p:txBody>
          <a:bodyPr wrap="square">
            <a:spAutoFit/>
          </a:bodyPr>
          <a:lstStyle/>
          <a:p>
            <a:r>
              <a:rPr sz="5200" b="1">
                <a:solidFill>
                  <a:srgbClr val="2C3E50"/>
                </a:solidFill>
                <a:latin typeface="Arial"/>
              </a:rPr>
              <a:t>The Arithmetic of Complacency</a:t>
            </a:r>
          </a:p>
        </p:txBody>
      </p:sp>
      <p:sp>
        <p:nvSpPr>
          <p:cNvPr id="9" name="TextBox 8"/>
          <p:cNvSpPr txBox="1"/>
          <p:nvPr/>
        </p:nvSpPr>
        <p:spPr>
          <a:xfrm>
            <a:off x="640080" y="3337560"/>
            <a:ext cx="10515600" cy="731520"/>
          </a:xfrm>
          <a:prstGeom prst="rect">
            <a:avLst/>
          </a:prstGeom>
          <a:noFill/>
        </p:spPr>
        <p:txBody>
          <a:bodyPr wrap="square">
            <a:spAutoFit/>
          </a:bodyPr>
          <a:lstStyle/>
          <a:p>
            <a:r>
              <a:rPr sz="2400" b="1">
                <a:solidFill>
                  <a:srgbClr val="E8792B"/>
                </a:solidFill>
                <a:latin typeface="Arial"/>
              </a:rPr>
              <a:t>S&amp;P 500 hits new highs while breadth deteriorates — is this 1999 redux?</a:t>
            </a:r>
          </a:p>
        </p:txBody>
      </p:sp>
      <p:sp>
        <p:nvSpPr>
          <p:cNvPr id="10" name="Rectangle 9"/>
          <p:cNvSpPr/>
          <p:nvPr/>
        </p:nvSpPr>
        <p:spPr>
          <a:xfrm>
            <a:off x="640080" y="6217920"/>
            <a:ext cx="10881360" cy="254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7315200" cy="365760"/>
          </a:xfrm>
          <a:prstGeom prst="rect">
            <a:avLst/>
          </a:prstGeom>
          <a:noFill/>
        </p:spPr>
        <p:txBody>
          <a:bodyPr wrap="none">
            <a:spAutoFit/>
          </a:bodyPr>
          <a:lstStyle/>
          <a:p>
            <a:r>
              <a:rPr sz="900">
                <a:solidFill>
                  <a:srgbClr val="8899AA"/>
                </a:solidFill>
                <a:latin typeface="Arial"/>
              </a:rPr>
              <a:t>www.rossignolipartners.com</a:t>
            </a:r>
          </a:p>
        </p:txBody>
      </p:sp>
      <p:sp>
        <p:nvSpPr>
          <p:cNvPr id="12" name="TextBox 11"/>
          <p:cNvSpPr txBox="1"/>
          <p:nvPr/>
        </p:nvSpPr>
        <p:spPr>
          <a:xfrm>
            <a:off x="8229600" y="6309360"/>
            <a:ext cx="3200400" cy="365760"/>
          </a:xfrm>
          <a:prstGeom prst="rect">
            <a:avLst/>
          </a:prstGeom>
          <a:noFill/>
        </p:spPr>
        <p:txBody>
          <a:bodyPr wrap="none">
            <a:spAutoFit/>
          </a:bodyPr>
          <a:lstStyle/>
          <a:p>
            <a:pPr algn="r"/>
            <a:r>
              <a:rPr sz="900">
                <a:solidFill>
                  <a:srgbClr val="8899AA"/>
                </a:solidFill>
                <a:latin typeface="Arial"/>
              </a:rPr>
              <a:t>3-7 February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1</a:t>
            </a:r>
          </a:p>
        </p:txBody>
      </p:sp>
      <p:sp>
        <p:nvSpPr>
          <p:cNvPr id="10" name="Rounded Rectangle 9"/>
          <p:cNvSpPr/>
          <p:nvPr/>
        </p:nvSpPr>
        <p:spPr>
          <a:xfrm>
            <a:off x="548640" y="621792"/>
            <a:ext cx="1179576"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#equities</a:t>
            </a:r>
          </a:p>
        </p:txBody>
      </p:sp>
      <p:sp>
        <p:nvSpPr>
          <p:cNvPr id="11" name="TextBox 10"/>
          <p:cNvSpPr txBox="1"/>
          <p:nvPr/>
        </p:nvSpPr>
        <p:spPr>
          <a:xfrm>
            <a:off x="548640" y="960120"/>
            <a:ext cx="11064240" cy="256032"/>
          </a:xfrm>
          <a:prstGeom prst="rect">
            <a:avLst/>
          </a:prstGeom>
          <a:noFill/>
        </p:spPr>
        <p:txBody>
          <a:bodyPr wrap="none">
            <a:spAutoFit/>
          </a:bodyPr>
          <a:lstStyle/>
          <a:p>
            <a:r>
              <a:rPr sz="1000" b="1">
                <a:solidFill>
                  <a:srgbClr val="27AE60"/>
                </a:solidFill>
                <a:latin typeface="Arial"/>
              </a:rPr>
              <a:t>#chartoftheweek #sp500 #breadth #technicals</a:t>
            </a:r>
          </a:p>
        </p:txBody>
      </p:sp>
      <p:sp>
        <p:nvSpPr>
          <p:cNvPr id="12" name="TextBox 11"/>
          <p:cNvSpPr txBox="1"/>
          <p:nvPr/>
        </p:nvSpPr>
        <p:spPr>
          <a:xfrm>
            <a:off x="548640" y="932688"/>
            <a:ext cx="11064240" cy="347472"/>
          </a:xfrm>
          <a:prstGeom prst="rect">
            <a:avLst/>
          </a:prstGeom>
          <a:noFill/>
        </p:spPr>
        <p:txBody>
          <a:bodyPr wrap="none">
            <a:spAutoFit/>
          </a:bodyPr>
          <a:lstStyle/>
          <a:p>
            <a:r>
              <a:rPr sz="1800" b="1">
                <a:solidFill>
                  <a:srgbClr val="2C3E50"/>
                </a:solidFill>
                <a:latin typeface="Arial"/>
              </a:rPr>
              <a:t>CHART OF THE WEEK</a:t>
            </a:r>
          </a:p>
        </p:txBody>
      </p:sp>
      <p:sp>
        <p:nvSpPr>
          <p:cNvPr id="13" name="TextBox 12"/>
          <p:cNvSpPr txBox="1"/>
          <p:nvPr/>
        </p:nvSpPr>
        <p:spPr>
          <a:xfrm>
            <a:off x="548640" y="1371600"/>
            <a:ext cx="11064240" cy="685800"/>
          </a:xfrm>
          <a:prstGeom prst="rect">
            <a:avLst/>
          </a:prstGeom>
          <a:noFill/>
        </p:spPr>
        <p:txBody>
          <a:bodyPr wrap="square">
            <a:spAutoFit/>
          </a:bodyPr>
          <a:lstStyle/>
          <a:p>
            <a:pPr>
              <a:lnSpc>
                <a:spcPts val="1500"/>
              </a:lnSpc>
            </a:pPr>
            <a:r>
              <a:rPr sz="1050">
                <a:solidFill>
                  <a:srgbClr val="2C3E50"/>
                </a:solidFill>
                <a:latin typeface="Arial"/>
              </a:rPr>
              <a:t>The S&amp;P 500 rose 2.1% this week to a new all-time high — but beneath the surface, only 38% of constituents trade above their 200-day moving average. The last time we saw this divergence was January 2000, three months before the dot-com peak. The Magnificent Seven now account for 34% of index weight, the highest concentration since the Nifty Fifty era of 1972.</a:t>
            </a:r>
          </a:p>
        </p:txBody>
      </p:sp>
      <p:pic>
        <p:nvPicPr>
          <p:cNvPr id="14" name="Picture 13" descr="chart_line.png"/>
          <p:cNvPicPr>
            <a:picLocks noChangeAspect="1"/>
          </p:cNvPicPr>
          <p:nvPr/>
        </p:nvPicPr>
        <p:blipFill>
          <a:blip r:embed="rId2"/>
          <a:stretch>
            <a:fillRect/>
          </a:stretch>
        </p:blipFill>
        <p:spPr>
          <a:xfrm>
            <a:off x="548640" y="2057400"/>
            <a:ext cx="11064240" cy="3840480"/>
          </a:xfrm>
          <a:prstGeom prst="rect">
            <a:avLst/>
          </a:prstGeom>
        </p:spPr>
      </p:pic>
      <p:sp>
        <p:nvSpPr>
          <p:cNvPr id="15" name="TextBox 14"/>
          <p:cNvSpPr txBox="1"/>
          <p:nvPr/>
        </p:nvSpPr>
        <p:spPr>
          <a:xfrm>
            <a:off x="548640" y="5989320"/>
            <a:ext cx="11064240" cy="274320"/>
          </a:xfrm>
          <a:prstGeom prst="rect">
            <a:avLst/>
          </a:prstGeom>
          <a:noFill/>
        </p:spPr>
        <p:txBody>
          <a:bodyPr wrap="none">
            <a:spAutoFit/>
          </a:bodyPr>
          <a:lstStyle/>
          <a:p>
            <a:pPr algn="r"/>
            <a:r>
              <a:rPr sz="800" i="1">
                <a:solidFill>
                  <a:srgbClr val="8899AA"/>
                </a:solidFill>
              </a:rPr>
              <a:t>Source: Bloomberg, Rossignoli &amp; Partners calculations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2</a:t>
            </a:r>
          </a:p>
        </p:txBody>
      </p:sp>
      <p:sp>
        <p:nvSpPr>
          <p:cNvPr id="10" name="TextBox 9"/>
          <p:cNvSpPr txBox="1"/>
          <p:nvPr/>
        </p:nvSpPr>
        <p:spPr>
          <a:xfrm>
            <a:off x="548640" y="640080"/>
            <a:ext cx="10515600" cy="731520"/>
          </a:xfrm>
          <a:prstGeom prst="rect">
            <a:avLst/>
          </a:prstGeom>
          <a:noFill/>
        </p:spPr>
        <p:txBody>
          <a:bodyPr wrap="square">
            <a:spAutoFit/>
          </a:bodyPr>
          <a:lstStyle/>
          <a:p>
            <a:r>
              <a:rPr sz="2200" b="1">
                <a:solidFill>
                  <a:srgbClr val="E8792B"/>
                </a:solidFill>
                <a:latin typeface="Arial"/>
              </a:rPr>
              <a:t>The Week in One Breath</a:t>
            </a:r>
          </a:p>
        </p:txBody>
      </p:sp>
      <p:sp>
        <p:nvSpPr>
          <p:cNvPr id="11" name="TextBox 10"/>
          <p:cNvSpPr txBox="1"/>
          <p:nvPr/>
        </p:nvSpPr>
        <p:spPr>
          <a:xfrm>
            <a:off x="548640" y="1783080"/>
            <a:ext cx="3657600" cy="274320"/>
          </a:xfrm>
          <a:prstGeom prst="rect">
            <a:avLst/>
          </a:prstGeom>
          <a:noFill/>
        </p:spPr>
        <p:txBody>
          <a:bodyPr wrap="none">
            <a:spAutoFit/>
          </a:bodyPr>
          <a:lstStyle/>
          <a:p>
            <a:r>
              <a:rPr sz="1100" b="1">
                <a:solidFill>
                  <a:srgbClr val="E8792B"/>
                </a:solidFill>
              </a:rPr>
              <a:t>EXECUTIVE SUMMARY</a:t>
            </a:r>
          </a:p>
        </p:txBody>
      </p:sp>
      <p:sp>
        <p:nvSpPr>
          <p:cNvPr id="12" name="TextBox 11"/>
          <p:cNvSpPr txBox="1"/>
          <p:nvPr/>
        </p:nvSpPr>
        <p:spPr>
          <a:xfrm>
            <a:off x="640080" y="2011680"/>
            <a:ext cx="10789920" cy="1051560"/>
          </a:xfrm>
          <a:prstGeom prst="rect">
            <a:avLst/>
          </a:prstGeom>
          <a:noFill/>
        </p:spPr>
        <p:txBody>
          <a:bodyPr wrap="square">
            <a:spAutoFit/>
          </a:bodyPr>
          <a:lstStyle/>
          <a:p>
            <a:pPr>
              <a:lnSpc>
                <a:spcPts val="1600"/>
              </a:lnSpc>
              <a:spcAft>
                <a:spcPts val="400"/>
              </a:spcAft>
            </a:pPr>
            <a:r>
              <a:rPr sz="1100">
                <a:solidFill>
                  <a:srgbClr val="2C3E50"/>
                </a:solidFill>
                <a:latin typeface="Arial"/>
              </a:rPr>
              <a:t>Strong NFP (+353k) crushed rate-cut hopes → 10Y yield surged to 4.17% → Dollar rallied 0.8% → EM currencies sold off → Gold dropped 1.2% as real yields rose → Credit spreads tightened anyway as equity euphoria overrode duration risk → S&amp;P 500 rose 2.1% to new ATH, but breadth collapsed to 38%.</a:t>
            </a:r>
          </a:p>
        </p:txBody>
      </p:sp>
      <p:sp>
        <p:nvSpPr>
          <p:cNvPr id="13" name="TextBox 12"/>
          <p:cNvSpPr txBox="1"/>
          <p:nvPr/>
        </p:nvSpPr>
        <p:spPr>
          <a:xfrm>
            <a:off x="640080" y="3063240"/>
            <a:ext cx="10789920" cy="1051560"/>
          </a:xfrm>
          <a:prstGeom prst="rect">
            <a:avLst/>
          </a:prstGeom>
          <a:noFill/>
        </p:spPr>
        <p:txBody>
          <a:bodyPr wrap="square">
            <a:spAutoFit/>
          </a:bodyPr>
          <a:lstStyle/>
          <a:p>
            <a:pPr>
              <a:lnSpc>
                <a:spcPts val="1600"/>
              </a:lnSpc>
              <a:spcAft>
                <a:spcPts val="400"/>
              </a:spcAft>
            </a:pPr>
            <a:r>
              <a:rPr sz="1100">
                <a:solidFill>
                  <a:srgbClr val="2C3E50"/>
                </a:solidFill>
                <a:latin typeface="Arial"/>
              </a:rPr>
              <a:t>The 2s10s curve steepened 12bp this week. Last time the curve steepened this fast after an inversion was Q3 2006 — 14 months before recession. Credit markets smell what equity markets refuse to acknowledge.</a:t>
            </a:r>
          </a:p>
        </p:txBody>
      </p:sp>
      <p:sp>
        <p:nvSpPr>
          <p:cNvPr id="14" name="TextBox 13"/>
          <p:cNvSpPr txBox="1"/>
          <p:nvPr/>
        </p:nvSpPr>
        <p:spPr>
          <a:xfrm>
            <a:off x="640080" y="4114800"/>
            <a:ext cx="10789920" cy="1051560"/>
          </a:xfrm>
          <a:prstGeom prst="rect">
            <a:avLst/>
          </a:prstGeom>
          <a:noFill/>
        </p:spPr>
        <p:txBody>
          <a:bodyPr wrap="square">
            <a:spAutoFit/>
          </a:bodyPr>
          <a:lstStyle/>
          <a:p>
            <a:pPr>
              <a:lnSpc>
                <a:spcPts val="1600"/>
              </a:lnSpc>
              <a:spcAft>
                <a:spcPts val="400"/>
              </a:spcAft>
            </a:pPr>
            <a:r>
              <a:rPr sz="1100">
                <a:solidFill>
                  <a:srgbClr val="2C3E50"/>
                </a:solidFill>
                <a:latin typeface="Arial"/>
              </a:rPr>
              <a:t>Consensus: soft landing confirmed, buy the dip. Our view: employment is a lagging indicator. Card delinquencies at 12-year highs. The 'strong consumer' is borrowing to spend — exactly 2006-2007. We are not bearish; we are historically aware.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657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828800" cy="731520"/>
          </a:xfrm>
          <a:prstGeom prst="rect">
            <a:avLst/>
          </a:prstGeom>
          <a:noFill/>
        </p:spPr>
        <p:txBody>
          <a:bodyPr wrap="none">
            <a:spAutoFit/>
          </a:bodyPr>
          <a:lstStyle/>
          <a:p>
            <a:r>
              <a:rPr sz="7200" b="1">
                <a:solidFill>
                  <a:srgbClr val="27AE60"/>
                </a:solidFill>
                <a:latin typeface="Arial"/>
              </a:rPr>
              <a:t>01</a:t>
            </a:r>
          </a:p>
        </p:txBody>
      </p:sp>
      <p:sp>
        <p:nvSpPr>
          <p:cNvPr id="6" name="Rounded Rectangle 5"/>
          <p:cNvSpPr/>
          <p:nvPr/>
        </p:nvSpPr>
        <p:spPr>
          <a:xfrm>
            <a:off x="640080" y="2377440"/>
            <a:ext cx="1179576"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#equities</a:t>
            </a:r>
          </a:p>
        </p:txBody>
      </p:sp>
      <p:sp>
        <p:nvSpPr>
          <p:cNvPr id="7" name="TextBox 6"/>
          <p:cNvSpPr txBox="1"/>
          <p:nvPr/>
        </p:nvSpPr>
        <p:spPr>
          <a:xfrm>
            <a:off x="640080" y="2788920"/>
            <a:ext cx="10058400" cy="1280160"/>
          </a:xfrm>
          <a:prstGeom prst="rect">
            <a:avLst/>
          </a:prstGeom>
          <a:noFill/>
        </p:spPr>
        <p:txBody>
          <a:bodyPr wrap="square">
            <a:spAutoFit/>
          </a:bodyPr>
          <a:lstStyle/>
          <a:p>
            <a:r>
              <a:rPr sz="4800" b="1">
                <a:solidFill>
                  <a:srgbClr val="27AE60"/>
                </a:solidFill>
                <a:latin typeface="Arial"/>
              </a:rPr>
              <a:t>Is the Rally Running Out of Fuel?</a:t>
            </a:r>
          </a:p>
        </p:txBody>
      </p:sp>
      <p:sp>
        <p:nvSpPr>
          <p:cNvPr id="8" name="TextBox 7"/>
          <p:cNvSpPr txBox="1"/>
          <p:nvPr/>
        </p:nvSpPr>
        <p:spPr>
          <a:xfrm>
            <a:off x="640080" y="4114800"/>
            <a:ext cx="9144000" cy="731520"/>
          </a:xfrm>
          <a:prstGeom prst="rect">
            <a:avLst/>
          </a:prstGeom>
          <a:noFill/>
        </p:spPr>
        <p:txBody>
          <a:bodyPr wrap="square">
            <a:spAutoFit/>
          </a:bodyPr>
          <a:lstStyle/>
          <a:p>
            <a:r>
              <a:rPr sz="1600">
                <a:solidFill>
                  <a:srgbClr val="6B7B8D"/>
                </a:solidFill>
                <a:latin typeface="Arial"/>
              </a:rPr>
              <a:t>US, European &amp; Asian equity markets</a:t>
            </a:r>
          </a:p>
        </p:txBody>
      </p:sp>
      <p:sp>
        <p:nvSpPr>
          <p:cNvPr id="9" name="Rectangle 8"/>
          <p:cNvSpPr/>
          <p:nvPr/>
        </p:nvSpPr>
        <p:spPr>
          <a:xfrm>
            <a:off x="640080" y="4937760"/>
            <a:ext cx="3657600" cy="25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3</a:t>
            </a:r>
          </a:p>
        </p:txBody>
      </p:sp>
      <p:sp>
        <p:nvSpPr>
          <p:cNvPr id="10" name="Rounded Rectangle 9"/>
          <p:cNvSpPr/>
          <p:nvPr/>
        </p:nvSpPr>
        <p:spPr>
          <a:xfrm>
            <a:off x="548640" y="621792"/>
            <a:ext cx="1179576"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#equities</a:t>
            </a:r>
          </a:p>
        </p:txBody>
      </p:sp>
      <p:sp>
        <p:nvSpPr>
          <p:cNvPr id="11" name="TextBox 10"/>
          <p:cNvSpPr txBox="1"/>
          <p:nvPr/>
        </p:nvSpPr>
        <p:spPr>
          <a:xfrm>
            <a:off x="548640" y="960120"/>
            <a:ext cx="11064240" cy="256032"/>
          </a:xfrm>
          <a:prstGeom prst="rect">
            <a:avLst/>
          </a:prstGeom>
          <a:noFill/>
        </p:spPr>
        <p:txBody>
          <a:bodyPr wrap="none">
            <a:spAutoFit/>
          </a:bodyPr>
          <a:lstStyle/>
          <a:p>
            <a:r>
              <a:rPr sz="1000" b="1">
                <a:solidFill>
                  <a:srgbClr val="27AE60"/>
                </a:solidFill>
                <a:latin typeface="Arial"/>
              </a:rPr>
              <a:t>#us #equities #sp500 #earnings #ai</a:t>
            </a:r>
          </a:p>
        </p:txBody>
      </p:sp>
      <p:sp>
        <p:nvSpPr>
          <p:cNvPr id="12" name="TextBox 11"/>
          <p:cNvSpPr txBox="1"/>
          <p:nvPr/>
        </p:nvSpPr>
        <p:spPr>
          <a:xfrm>
            <a:off x="548640" y="1280160"/>
            <a:ext cx="11064240" cy="685800"/>
          </a:xfrm>
          <a:prstGeom prst="rect">
            <a:avLst/>
          </a:prstGeom>
          <a:noFill/>
        </p:spPr>
        <p:txBody>
          <a:bodyPr wrap="square">
            <a:spAutoFit/>
          </a:bodyPr>
          <a:lstStyle/>
          <a:p>
            <a:pPr>
              <a:lnSpc>
                <a:spcPts val="1500"/>
              </a:lnSpc>
            </a:pPr>
            <a:r>
              <a:rPr sz="1050">
                <a:solidFill>
                  <a:srgbClr val="2C3E50"/>
                </a:solidFill>
                <a:latin typeface="Arial"/>
              </a:rPr>
              <a:t>The S&amp;P 500 rose 2.1% to a new all-time high at 4,958. Meta surged 20% after reporting AI-driven ad revenue, adding $200Bn in market cap in a single session. But here's the second-level question: if AI works for everyone, where is the competitive moat? The last time a technology 'worked for everyone' was the internet in 1999. We're not saying AI is a bubble — we're saying the market is pricing monopoly returns for a commodity technology.</a:t>
            </a:r>
          </a:p>
        </p:txBody>
      </p:sp>
      <p:pic>
        <p:nvPicPr>
          <p:cNvPr id="13" name="Picture 12" descr="chart_bar.png"/>
          <p:cNvPicPr>
            <a:picLocks noChangeAspect="1"/>
          </p:cNvPicPr>
          <p:nvPr/>
        </p:nvPicPr>
        <p:blipFill>
          <a:blip r:embed="rId2"/>
          <a:stretch>
            <a:fillRect/>
          </a:stretch>
        </p:blipFill>
        <p:spPr>
          <a:xfrm>
            <a:off x="548640" y="2057400"/>
            <a:ext cx="11064240" cy="3840480"/>
          </a:xfrm>
          <a:prstGeom prst="rect">
            <a:avLst/>
          </a:prstGeom>
        </p:spPr>
      </p:pic>
      <p:sp>
        <p:nvSpPr>
          <p:cNvPr id="14" name="TextBox 13"/>
          <p:cNvSpPr txBox="1"/>
          <p:nvPr/>
        </p:nvSpPr>
        <p:spPr>
          <a:xfrm>
            <a:off x="548640" y="5989320"/>
            <a:ext cx="11064240" cy="274320"/>
          </a:xfrm>
          <a:prstGeom prst="rect">
            <a:avLst/>
          </a:prstGeom>
          <a:noFill/>
        </p:spPr>
        <p:txBody>
          <a:bodyPr wrap="none">
            <a:spAutoFit/>
          </a:bodyPr>
          <a:lstStyle/>
          <a:p>
            <a:pPr algn="r"/>
            <a:r>
              <a:rPr sz="800" i="1">
                <a:solidFill>
                  <a:srgbClr val="8899AA"/>
                </a:solidFill>
              </a:rPr>
              <a:t>Source: Bloomberg, company filings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6576"/>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828800" cy="731520"/>
          </a:xfrm>
          <a:prstGeom prst="rect">
            <a:avLst/>
          </a:prstGeom>
          <a:noFill/>
        </p:spPr>
        <p:txBody>
          <a:bodyPr wrap="none">
            <a:spAutoFit/>
          </a:bodyPr>
          <a:lstStyle/>
          <a:p>
            <a:r>
              <a:rPr sz="7200" b="1">
                <a:solidFill>
                  <a:srgbClr val="8E44AD"/>
                </a:solidFill>
                <a:latin typeface="Arial"/>
              </a:rPr>
              <a:t>02</a:t>
            </a:r>
          </a:p>
        </p:txBody>
      </p:sp>
      <p:sp>
        <p:nvSpPr>
          <p:cNvPr id="6" name="Rounded Rectangle 5"/>
          <p:cNvSpPr/>
          <p:nvPr/>
        </p:nvSpPr>
        <p:spPr>
          <a:xfrm>
            <a:off x="640080" y="2377440"/>
            <a:ext cx="158191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#fixed income</a:t>
            </a:r>
          </a:p>
        </p:txBody>
      </p:sp>
      <p:sp>
        <p:nvSpPr>
          <p:cNvPr id="7" name="TextBox 6"/>
          <p:cNvSpPr txBox="1"/>
          <p:nvPr/>
        </p:nvSpPr>
        <p:spPr>
          <a:xfrm>
            <a:off x="640080" y="2788920"/>
            <a:ext cx="10058400" cy="1280160"/>
          </a:xfrm>
          <a:prstGeom prst="rect">
            <a:avLst/>
          </a:prstGeom>
          <a:noFill/>
        </p:spPr>
        <p:txBody>
          <a:bodyPr wrap="square">
            <a:spAutoFit/>
          </a:bodyPr>
          <a:lstStyle/>
          <a:p>
            <a:r>
              <a:rPr sz="4800" b="1">
                <a:solidFill>
                  <a:srgbClr val="8E44AD"/>
                </a:solidFill>
                <a:latin typeface="Arial"/>
              </a:rPr>
              <a:t>What Is the Bond Market Trying to Tell Us?</a:t>
            </a:r>
          </a:p>
        </p:txBody>
      </p:sp>
      <p:sp>
        <p:nvSpPr>
          <p:cNvPr id="8" name="TextBox 7"/>
          <p:cNvSpPr txBox="1"/>
          <p:nvPr/>
        </p:nvSpPr>
        <p:spPr>
          <a:xfrm>
            <a:off x="640080" y="4114800"/>
            <a:ext cx="9144000" cy="731520"/>
          </a:xfrm>
          <a:prstGeom prst="rect">
            <a:avLst/>
          </a:prstGeom>
          <a:noFill/>
        </p:spPr>
        <p:txBody>
          <a:bodyPr wrap="square">
            <a:spAutoFit/>
          </a:bodyPr>
          <a:lstStyle/>
          <a:p>
            <a:r>
              <a:rPr sz="1600">
                <a:solidFill>
                  <a:srgbClr val="6B7B8D"/>
                </a:solidFill>
                <a:latin typeface="Arial"/>
              </a:rPr>
              <a:t>Rates, credit &amp; sovereign spreads</a:t>
            </a:r>
          </a:p>
        </p:txBody>
      </p:sp>
      <p:sp>
        <p:nvSpPr>
          <p:cNvPr id="9" name="Rectangle 8"/>
          <p:cNvSpPr/>
          <p:nvPr/>
        </p:nvSpPr>
        <p:spPr>
          <a:xfrm>
            <a:off x="640080" y="4937760"/>
            <a:ext cx="3657600" cy="254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4</a:t>
            </a:r>
          </a:p>
        </p:txBody>
      </p:sp>
      <p:sp>
        <p:nvSpPr>
          <p:cNvPr id="10" name="Rounded Rectangle 9"/>
          <p:cNvSpPr/>
          <p:nvPr/>
        </p:nvSpPr>
        <p:spPr>
          <a:xfrm>
            <a:off x="548640" y="621792"/>
            <a:ext cx="1581912" cy="25603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#fixed income</a:t>
            </a:r>
          </a:p>
        </p:txBody>
      </p:sp>
      <p:sp>
        <p:nvSpPr>
          <p:cNvPr id="11" name="TextBox 10"/>
          <p:cNvSpPr txBox="1"/>
          <p:nvPr/>
        </p:nvSpPr>
        <p:spPr>
          <a:xfrm>
            <a:off x="548640" y="960120"/>
            <a:ext cx="11064240" cy="256032"/>
          </a:xfrm>
          <a:prstGeom prst="rect">
            <a:avLst/>
          </a:prstGeom>
          <a:noFill/>
        </p:spPr>
        <p:txBody>
          <a:bodyPr wrap="none">
            <a:spAutoFit/>
          </a:bodyPr>
          <a:lstStyle/>
          <a:p>
            <a:r>
              <a:rPr sz="1000" b="1">
                <a:solidFill>
                  <a:srgbClr val="8E44AD"/>
                </a:solidFill>
                <a:latin typeface="Arial"/>
              </a:rPr>
              <a:t>#bonds #yields #curve #credit #fed</a:t>
            </a:r>
          </a:p>
        </p:txBody>
      </p:sp>
      <p:sp>
        <p:nvSpPr>
          <p:cNvPr id="12" name="TextBox 11"/>
          <p:cNvSpPr txBox="1"/>
          <p:nvPr/>
        </p:nvSpPr>
        <p:spPr>
          <a:xfrm>
            <a:off x="548640" y="1280160"/>
            <a:ext cx="11064240" cy="685800"/>
          </a:xfrm>
          <a:prstGeom prst="rect">
            <a:avLst/>
          </a:prstGeom>
          <a:noFill/>
        </p:spPr>
        <p:txBody>
          <a:bodyPr wrap="square">
            <a:spAutoFit/>
          </a:bodyPr>
          <a:lstStyle/>
          <a:p>
            <a:pPr>
              <a:lnSpc>
                <a:spcPts val="1500"/>
              </a:lnSpc>
            </a:pPr>
            <a:r>
              <a:rPr sz="1050">
                <a:solidFill>
                  <a:srgbClr val="2C3E50"/>
                </a:solidFill>
                <a:latin typeface="Arial"/>
              </a:rPr>
              <a:t>The 10-year Treasury yield surged 18bp to 4.17%, its largest weekly move since October. Credit spreads ignore the signal: HY at 315bp, tightest since January 2022. Either credit markets are wrong about risk, or equity markets are wrong about growth. Both cannot be right. The last time HY spreads were this tight heading into a hiking pause was July 2006.</a:t>
            </a:r>
          </a:p>
        </p:txBody>
      </p:sp>
      <p:pic>
        <p:nvPicPr>
          <p:cNvPr id="13" name="Picture 12" descr="chart_line.png"/>
          <p:cNvPicPr>
            <a:picLocks noChangeAspect="1"/>
          </p:cNvPicPr>
          <p:nvPr/>
        </p:nvPicPr>
        <p:blipFill>
          <a:blip r:embed="rId2"/>
          <a:stretch>
            <a:fillRect/>
          </a:stretch>
        </p:blipFill>
        <p:spPr>
          <a:xfrm>
            <a:off x="548640" y="2057400"/>
            <a:ext cx="11064240" cy="3840480"/>
          </a:xfrm>
          <a:prstGeom prst="rect">
            <a:avLst/>
          </a:prstGeom>
        </p:spPr>
      </p:pic>
      <p:sp>
        <p:nvSpPr>
          <p:cNvPr id="14" name="TextBox 13"/>
          <p:cNvSpPr txBox="1"/>
          <p:nvPr/>
        </p:nvSpPr>
        <p:spPr>
          <a:xfrm>
            <a:off x="548640" y="5989320"/>
            <a:ext cx="11064240" cy="274320"/>
          </a:xfrm>
          <a:prstGeom prst="rect">
            <a:avLst/>
          </a:prstGeom>
          <a:noFill/>
        </p:spPr>
        <p:txBody>
          <a:bodyPr wrap="none">
            <a:spAutoFit/>
          </a:bodyPr>
          <a:lstStyle/>
          <a:p>
            <a:pPr algn="r"/>
            <a:r>
              <a:rPr sz="800" i="1">
                <a:solidFill>
                  <a:srgbClr val="8899AA"/>
                </a:solidFill>
              </a:rPr>
              <a:t>Source: Bloomberg, Fed funds futures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5</a:t>
            </a:r>
          </a:p>
        </p:txBody>
      </p:sp>
      <p:sp>
        <p:nvSpPr>
          <p:cNvPr id="10" name="Rounded Rectangle 9"/>
          <p:cNvSpPr/>
          <p:nvPr/>
        </p:nvSpPr>
        <p:spPr>
          <a:xfrm>
            <a:off x="548640" y="621792"/>
            <a:ext cx="1179576" cy="256032"/>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#equities</a:t>
            </a:r>
          </a:p>
        </p:txBody>
      </p:sp>
      <p:sp>
        <p:nvSpPr>
          <p:cNvPr id="11" name="TextBox 10"/>
          <p:cNvSpPr txBox="1"/>
          <p:nvPr/>
        </p:nvSpPr>
        <p:spPr>
          <a:xfrm>
            <a:off x="1097280" y="1188720"/>
            <a:ext cx="1371600" cy="1097280"/>
          </a:xfrm>
          <a:prstGeom prst="rect">
            <a:avLst/>
          </a:prstGeom>
          <a:noFill/>
        </p:spPr>
        <p:txBody>
          <a:bodyPr wrap="none">
            <a:spAutoFit/>
          </a:bodyPr>
          <a:lstStyle/>
          <a:p>
            <a:r>
              <a:rPr sz="12000" b="1">
                <a:solidFill>
                  <a:srgbClr val="27AE60"/>
                </a:solidFill>
                <a:latin typeface="Georgia"/>
              </a:rPr>
              <a:t>“</a:t>
            </a:r>
          </a:p>
        </p:txBody>
      </p:sp>
      <p:sp>
        <p:nvSpPr>
          <p:cNvPr id="12" name="Rounded Rectangle 11"/>
          <p:cNvSpPr/>
          <p:nvPr/>
        </p:nvSpPr>
        <p:spPr>
          <a:xfrm>
            <a:off x="2011680" y="1737360"/>
            <a:ext cx="8686800" cy="2743200"/>
          </a:xfrm>
          <a:prstGeom prst="roundRect">
            <a:avLst/>
          </a:prstGeom>
          <a:solidFill>
            <a:srgbClr val="FFF8E1"/>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1920240"/>
            <a:ext cx="8229600" cy="2194560"/>
          </a:xfrm>
          <a:prstGeom prst="rect">
            <a:avLst/>
          </a:prstGeom>
          <a:noFill/>
        </p:spPr>
        <p:txBody>
          <a:bodyPr wrap="square">
            <a:spAutoFit/>
          </a:bodyPr>
          <a:lstStyle/>
          <a:p>
            <a:pPr algn="l">
              <a:lnSpc>
                <a:spcPts val="2800"/>
              </a:lnSpc>
            </a:pPr>
            <a:r>
              <a:rPr sz="2200" i="1">
                <a:solidFill>
                  <a:srgbClr val="2C3E50"/>
                </a:solidFill>
                <a:latin typeface="Georgia"/>
              </a:rPr>
              <a:t>There are two types of investors: those who want to get rich and those who want to stay rich. In 2024, the distinction matters more than it has since 1999.”</a:t>
            </a:r>
          </a:p>
        </p:txBody>
      </p:sp>
      <p:sp>
        <p:nvSpPr>
          <p:cNvPr id="14" name="TextBox 13"/>
          <p:cNvSpPr txBox="1"/>
          <p:nvPr/>
        </p:nvSpPr>
        <p:spPr>
          <a:xfrm>
            <a:off x="2286000" y="4206240"/>
            <a:ext cx="8229600" cy="365760"/>
          </a:xfrm>
          <a:prstGeom prst="rect">
            <a:avLst/>
          </a:prstGeom>
          <a:noFill/>
        </p:spPr>
        <p:txBody>
          <a:bodyPr wrap="none">
            <a:spAutoFit/>
          </a:bodyPr>
          <a:lstStyle/>
          <a:p>
            <a:pPr algn="r"/>
            <a:r>
              <a:rPr sz="1400" b="1">
                <a:solidFill>
                  <a:srgbClr val="27AE60"/>
                </a:solidFill>
                <a:latin typeface="Arial"/>
              </a:rPr>
              <a:t>— Michael Hartnett, BofA Global Research</a:t>
            </a:r>
          </a:p>
        </p:txBody>
      </p:sp>
      <p:sp>
        <p:nvSpPr>
          <p:cNvPr id="15" name="TextBox 14"/>
          <p:cNvSpPr txBox="1"/>
          <p:nvPr/>
        </p:nvSpPr>
        <p:spPr>
          <a:xfrm>
            <a:off x="2286000" y="4617720"/>
            <a:ext cx="8229600" cy="274320"/>
          </a:xfrm>
          <a:prstGeom prst="rect">
            <a:avLst/>
          </a:prstGeom>
          <a:noFill/>
        </p:spPr>
        <p:txBody>
          <a:bodyPr wrap="none">
            <a:spAutoFit/>
          </a:bodyPr>
          <a:lstStyle/>
          <a:p>
            <a:pPr algn="r"/>
            <a:r>
              <a:rPr sz="900" i="1">
                <a:solidFill>
                  <a:srgbClr val="8899AA"/>
                </a:solidFill>
              </a:rPr>
              <a:t>BofA Flow Show, February 2 2024</a:t>
            </a:r>
          </a:p>
        </p:txBody>
      </p:sp>
      <p:sp>
        <p:nvSpPr>
          <p:cNvPr id="16" name="TextBox 15"/>
          <p:cNvSpPr txBox="1"/>
          <p:nvPr/>
        </p:nvSpPr>
        <p:spPr>
          <a:xfrm>
            <a:off x="1371600" y="5120640"/>
            <a:ext cx="9418320" cy="822960"/>
          </a:xfrm>
          <a:prstGeom prst="rect">
            <a:avLst/>
          </a:prstGeom>
          <a:noFill/>
        </p:spPr>
        <p:txBody>
          <a:bodyPr wrap="square">
            <a:spAutoFit/>
          </a:bodyPr>
          <a:lstStyle/>
          <a:p>
            <a:pPr>
              <a:lnSpc>
                <a:spcPts val="1500"/>
              </a:lnSpc>
            </a:pPr>
            <a:r>
              <a:rPr sz="1050">
                <a:solidFill>
                  <a:srgbClr val="2C3E50"/>
                </a:solidFill>
              </a:rPr>
              <a:t>Hartnett's Bull &amp; Bear indicator hit 6.8 this week — above 8 triggers a contrarian sell signal. The velocity of ascent from 3.2 in October is historically unprecedented outside of 1999 and 2021.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6576"/>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828800" cy="731520"/>
          </a:xfrm>
          <a:prstGeom prst="rect">
            <a:avLst/>
          </a:prstGeom>
          <a:noFill/>
        </p:spPr>
        <p:txBody>
          <a:bodyPr wrap="none">
            <a:spAutoFit/>
          </a:bodyPr>
          <a:lstStyle/>
          <a:p>
            <a:r>
              <a:rPr sz="7200" b="1">
                <a:solidFill>
                  <a:srgbClr val="2980B9"/>
                </a:solidFill>
                <a:latin typeface="Arial"/>
              </a:rPr>
              <a:t>03</a:t>
            </a:r>
          </a:p>
        </p:txBody>
      </p:sp>
      <p:sp>
        <p:nvSpPr>
          <p:cNvPr id="6" name="Rounded Rectangle 5"/>
          <p:cNvSpPr/>
          <p:nvPr/>
        </p:nvSpPr>
        <p:spPr>
          <a:xfrm>
            <a:off x="640080" y="2377440"/>
            <a:ext cx="1097280" cy="25603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#fx</a:t>
            </a:r>
          </a:p>
        </p:txBody>
      </p:sp>
      <p:sp>
        <p:nvSpPr>
          <p:cNvPr id="7" name="TextBox 6"/>
          <p:cNvSpPr txBox="1"/>
          <p:nvPr/>
        </p:nvSpPr>
        <p:spPr>
          <a:xfrm>
            <a:off x="640080" y="2788920"/>
            <a:ext cx="10058400" cy="1280160"/>
          </a:xfrm>
          <a:prstGeom prst="rect">
            <a:avLst/>
          </a:prstGeom>
          <a:noFill/>
        </p:spPr>
        <p:txBody>
          <a:bodyPr wrap="square">
            <a:spAutoFit/>
          </a:bodyPr>
          <a:lstStyle/>
          <a:p>
            <a:r>
              <a:rPr sz="4800" b="1">
                <a:solidFill>
                  <a:srgbClr val="2980B9"/>
                </a:solidFill>
                <a:latin typeface="Arial"/>
              </a:rPr>
              <a:t>Is the Dollar's Rally a Feature or a Bug?</a:t>
            </a:r>
          </a:p>
        </p:txBody>
      </p:sp>
      <p:sp>
        <p:nvSpPr>
          <p:cNvPr id="8" name="TextBox 7"/>
          <p:cNvSpPr txBox="1"/>
          <p:nvPr/>
        </p:nvSpPr>
        <p:spPr>
          <a:xfrm>
            <a:off x="640080" y="4114800"/>
            <a:ext cx="9144000" cy="731520"/>
          </a:xfrm>
          <a:prstGeom prst="rect">
            <a:avLst/>
          </a:prstGeom>
          <a:noFill/>
        </p:spPr>
        <p:txBody>
          <a:bodyPr wrap="square">
            <a:spAutoFit/>
          </a:bodyPr>
          <a:lstStyle/>
          <a:p>
            <a:r>
              <a:rPr sz="1600">
                <a:solidFill>
                  <a:srgbClr val="6B7B8D"/>
                </a:solidFill>
                <a:latin typeface="Arial"/>
              </a:rPr>
              <a:t>Foreign exchange &amp; commodity markets</a:t>
            </a:r>
          </a:p>
        </p:txBody>
      </p:sp>
      <p:sp>
        <p:nvSpPr>
          <p:cNvPr id="9" name="Rectangle 8"/>
          <p:cNvSpPr/>
          <p:nvPr/>
        </p:nvSpPr>
        <p:spPr>
          <a:xfrm>
            <a:off x="640080" y="4937760"/>
            <a:ext cx="3657600" cy="254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6</a:t>
            </a:r>
          </a:p>
        </p:txBody>
      </p:sp>
      <p:sp>
        <p:nvSpPr>
          <p:cNvPr id="10" name="Rounded Rectangle 9"/>
          <p:cNvSpPr/>
          <p:nvPr/>
        </p:nvSpPr>
        <p:spPr>
          <a:xfrm>
            <a:off x="548640" y="621792"/>
            <a:ext cx="1097280" cy="256032"/>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#fx</a:t>
            </a:r>
          </a:p>
        </p:txBody>
      </p:sp>
      <p:sp>
        <p:nvSpPr>
          <p:cNvPr id="11" name="TextBox 10"/>
          <p:cNvSpPr txBox="1"/>
          <p:nvPr/>
        </p:nvSpPr>
        <p:spPr>
          <a:xfrm>
            <a:off x="548640" y="960120"/>
            <a:ext cx="11064240" cy="256032"/>
          </a:xfrm>
          <a:prstGeom prst="rect">
            <a:avLst/>
          </a:prstGeom>
          <a:noFill/>
        </p:spPr>
        <p:txBody>
          <a:bodyPr wrap="none">
            <a:spAutoFit/>
          </a:bodyPr>
          <a:lstStyle/>
          <a:p>
            <a:r>
              <a:rPr sz="1000" b="1">
                <a:solidFill>
                  <a:srgbClr val="2980B9"/>
                </a:solidFill>
                <a:latin typeface="Arial"/>
              </a:rPr>
              <a:t>#fx #dollar #eurusd #yen #em</a:t>
            </a:r>
          </a:p>
        </p:txBody>
      </p:sp>
      <p:sp>
        <p:nvSpPr>
          <p:cNvPr id="12" name="TextBox 11"/>
          <p:cNvSpPr txBox="1"/>
          <p:nvPr/>
        </p:nvSpPr>
        <p:spPr>
          <a:xfrm>
            <a:off x="548640" y="1280160"/>
            <a:ext cx="11064240" cy="685800"/>
          </a:xfrm>
          <a:prstGeom prst="rect">
            <a:avLst/>
          </a:prstGeom>
          <a:noFill/>
        </p:spPr>
        <p:txBody>
          <a:bodyPr wrap="square">
            <a:spAutoFit/>
          </a:bodyPr>
          <a:lstStyle/>
          <a:p>
            <a:pPr>
              <a:lnSpc>
                <a:spcPts val="1500"/>
              </a:lnSpc>
            </a:pPr>
            <a:r>
              <a:rPr sz="1050">
                <a:solidFill>
                  <a:srgbClr val="2C3E50"/>
                </a:solidFill>
                <a:latin typeface="Arial"/>
              </a:rPr>
              <a:t>DXY rose 0.8% to 104.1. EUR/USD fell to 1.0780 testing the 200-day MA. But here is the contrarian angle: dollar strength driven by rate differentials is self-limiting. A strong dollar tightens financial conditions globally, slows US exports, and compresses EM growth — all of which eventually circle back to weaken the US economy itself. The dollar's rally is not a sign of strength; it is the market pricing in the end of synchronized global growth.</a:t>
            </a:r>
          </a:p>
        </p:txBody>
      </p:sp>
      <p:pic>
        <p:nvPicPr>
          <p:cNvPr id="13" name="Picture 12" descr="chart_hbar.png"/>
          <p:cNvPicPr>
            <a:picLocks noChangeAspect="1"/>
          </p:cNvPicPr>
          <p:nvPr/>
        </p:nvPicPr>
        <p:blipFill>
          <a:blip r:embed="rId2"/>
          <a:stretch>
            <a:fillRect/>
          </a:stretch>
        </p:blipFill>
        <p:spPr>
          <a:xfrm>
            <a:off x="548640" y="2057400"/>
            <a:ext cx="11064240" cy="3840480"/>
          </a:xfrm>
          <a:prstGeom prst="rect">
            <a:avLst/>
          </a:prstGeom>
        </p:spPr>
      </p:pic>
      <p:sp>
        <p:nvSpPr>
          <p:cNvPr id="14" name="TextBox 13"/>
          <p:cNvSpPr txBox="1"/>
          <p:nvPr/>
        </p:nvSpPr>
        <p:spPr>
          <a:xfrm>
            <a:off x="548640" y="5989320"/>
            <a:ext cx="11064240" cy="274320"/>
          </a:xfrm>
          <a:prstGeom prst="rect">
            <a:avLst/>
          </a:prstGeom>
          <a:noFill/>
        </p:spPr>
        <p:txBody>
          <a:bodyPr wrap="none">
            <a:spAutoFit/>
          </a:bodyPr>
          <a:lstStyle/>
          <a:p>
            <a:pPr algn="r"/>
            <a:r>
              <a:rPr sz="800" i="1">
                <a:solidFill>
                  <a:srgbClr val="8899AA"/>
                </a:solidFill>
              </a:rPr>
              <a:t>Source: Bloomberg, BIS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7</a:t>
            </a:r>
          </a:p>
        </p:txBody>
      </p:sp>
      <p:sp>
        <p:nvSpPr>
          <p:cNvPr id="10" name="Rounded Rectangle 9"/>
          <p:cNvSpPr/>
          <p:nvPr/>
        </p:nvSpPr>
        <p:spPr>
          <a:xfrm>
            <a:off x="548640" y="640080"/>
            <a:ext cx="1481328" cy="256032"/>
          </a:xfrm>
          <a:prstGeom prst="roundRect">
            <a:avLst/>
          </a:prstGeom>
          <a:solidFill>
            <a:srgbClr val="D4A05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#commodities</a:t>
            </a:r>
          </a:p>
        </p:txBody>
      </p:sp>
      <p:sp>
        <p:nvSpPr>
          <p:cNvPr id="11" name="TextBox 10"/>
          <p:cNvSpPr txBox="1"/>
          <p:nvPr/>
        </p:nvSpPr>
        <p:spPr>
          <a:xfrm>
            <a:off x="548640" y="914400"/>
            <a:ext cx="10515600" cy="365760"/>
          </a:xfrm>
          <a:prstGeom prst="rect">
            <a:avLst/>
          </a:prstGeom>
          <a:noFill/>
        </p:spPr>
        <p:txBody>
          <a:bodyPr wrap="none">
            <a:spAutoFit/>
          </a:bodyPr>
          <a:lstStyle/>
          <a:p>
            <a:r>
              <a:rPr sz="1800" b="1">
                <a:solidFill>
                  <a:srgbClr val="2C3E50"/>
                </a:solidFill>
                <a:latin typeface="Arial"/>
              </a:rPr>
              <a:t>Commodity Snapshot: Diverging Signals</a:t>
            </a:r>
          </a:p>
        </p:txBody>
      </p:sp>
      <p:sp>
        <p:nvSpPr>
          <p:cNvPr id="12" name="TextBox 11"/>
          <p:cNvSpPr txBox="1"/>
          <p:nvPr/>
        </p:nvSpPr>
        <p:spPr>
          <a:xfrm>
            <a:off x="548640" y="1325880"/>
            <a:ext cx="10515600" cy="274320"/>
          </a:xfrm>
          <a:prstGeom prst="rect">
            <a:avLst/>
          </a:prstGeom>
          <a:noFill/>
        </p:spPr>
        <p:txBody>
          <a:bodyPr wrap="none">
            <a:spAutoFit/>
          </a:bodyPr>
          <a:lstStyle/>
          <a:p>
            <a:r>
              <a:rPr sz="1000" b="1">
                <a:solidFill>
                  <a:srgbClr val="D4A056"/>
                </a:solidFill>
              </a:rPr>
              <a:t>#gold #oil #copper #natgas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8</a:t>
            </a:r>
          </a:p>
        </p:txBody>
      </p:sp>
      <p:sp>
        <p:nvSpPr>
          <p:cNvPr id="10" name="Rounded Rectangle 9"/>
          <p:cNvSpPr/>
          <p:nvPr/>
        </p:nvSpPr>
        <p:spPr>
          <a:xfrm>
            <a:off x="548640" y="621792"/>
            <a:ext cx="1097280" cy="256032"/>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#macro</a:t>
            </a:r>
          </a:p>
        </p:txBody>
      </p:sp>
      <p:sp>
        <p:nvSpPr>
          <p:cNvPr id="11" name="TextBox 10"/>
          <p:cNvSpPr txBox="1"/>
          <p:nvPr/>
        </p:nvSpPr>
        <p:spPr>
          <a:xfrm>
            <a:off x="548640" y="960120"/>
            <a:ext cx="11064240" cy="256032"/>
          </a:xfrm>
          <a:prstGeom prst="rect">
            <a:avLst/>
          </a:prstGeom>
          <a:noFill/>
        </p:spPr>
        <p:txBody>
          <a:bodyPr wrap="none">
            <a:spAutoFit/>
          </a:bodyPr>
          <a:lstStyle/>
          <a:p>
            <a:r>
              <a:rPr sz="1000" b="1">
                <a:solidFill>
                  <a:srgbClr val="E74C3C"/>
                </a:solidFill>
                <a:latin typeface="Arial"/>
              </a:rPr>
              <a:t>#risks #contrarian #positioning</a:t>
            </a:r>
          </a:p>
        </p:txBody>
      </p:sp>
      <p:sp>
        <p:nvSpPr>
          <p:cNvPr id="12" name="TextBox 11"/>
          <p:cNvSpPr txBox="1"/>
          <p:nvPr/>
        </p:nvSpPr>
        <p:spPr>
          <a:xfrm>
            <a:off x="548640" y="932688"/>
            <a:ext cx="11064240" cy="347472"/>
          </a:xfrm>
          <a:prstGeom prst="rect">
            <a:avLst/>
          </a:prstGeom>
          <a:noFill/>
        </p:spPr>
        <p:txBody>
          <a:bodyPr wrap="none">
            <a:spAutoFit/>
          </a:bodyPr>
          <a:lstStyle/>
          <a:p>
            <a:r>
              <a:rPr sz="1800" b="1">
                <a:solidFill>
                  <a:srgbClr val="2C3E50"/>
                </a:solidFill>
                <a:latin typeface="Arial"/>
              </a:rPr>
              <a:t>WHERE COULD WE BE WRONG?</a:t>
            </a:r>
          </a:p>
        </p:txBody>
      </p:sp>
      <p:sp>
        <p:nvSpPr>
          <p:cNvPr id="13" name="TextBox 12"/>
          <p:cNvSpPr txBox="1"/>
          <p:nvPr/>
        </p:nvSpPr>
        <p:spPr>
          <a:xfrm>
            <a:off x="548640" y="1371600"/>
            <a:ext cx="11064240" cy="685800"/>
          </a:xfrm>
          <a:prstGeom prst="rect">
            <a:avLst/>
          </a:prstGeom>
          <a:noFill/>
        </p:spPr>
        <p:txBody>
          <a:bodyPr wrap="square">
            <a:spAutoFit/>
          </a:bodyPr>
          <a:lstStyle/>
          <a:p>
            <a:pPr>
              <a:lnSpc>
                <a:spcPts val="1500"/>
              </a:lnSpc>
            </a:pPr>
            <a:r>
              <a:rPr sz="1050">
                <a:solidFill>
                  <a:srgbClr val="2C3E50"/>
                </a:solidFill>
                <a:latin typeface="Arial"/>
              </a:rPr>
              <a:t>MYTH: 'The consumer is strong — employment at record highs.' REALITY: Employment is a lagging indicator. Real wages are decelerating. Credit card delinquencies are at 12-year highs. The 'strong consumer' is borrowing to spend — exactly 2006-2007. We could be wrong if AI productivity gains materialize faster than the historical 3-5 year lag. But we would rather be historically aware and modestly positioned than complacent and concentrated.</a:t>
            </a:r>
          </a:p>
        </p:txBody>
      </p:sp>
      <p:pic>
        <p:nvPicPr>
          <p:cNvPr id="14" name="Picture 13" descr="chart_line.png"/>
          <p:cNvPicPr>
            <a:picLocks noChangeAspect="1"/>
          </p:cNvPicPr>
          <p:nvPr/>
        </p:nvPicPr>
        <p:blipFill>
          <a:blip r:embed="rId2"/>
          <a:stretch>
            <a:fillRect/>
          </a:stretch>
        </p:blipFill>
        <p:spPr>
          <a:xfrm>
            <a:off x="548640" y="2057400"/>
            <a:ext cx="11064240" cy="3840480"/>
          </a:xfrm>
          <a:prstGeom prst="rect">
            <a:avLst/>
          </a:prstGeom>
        </p:spPr>
      </p:pic>
      <p:sp>
        <p:nvSpPr>
          <p:cNvPr id="15" name="TextBox 14"/>
          <p:cNvSpPr txBox="1"/>
          <p:nvPr/>
        </p:nvSpPr>
        <p:spPr>
          <a:xfrm>
            <a:off x="548640" y="5989320"/>
            <a:ext cx="11064240" cy="274320"/>
          </a:xfrm>
          <a:prstGeom prst="rect">
            <a:avLst/>
          </a:prstGeom>
          <a:noFill/>
        </p:spPr>
        <p:txBody>
          <a:bodyPr wrap="none">
            <a:spAutoFit/>
          </a:bodyPr>
          <a:lstStyle/>
          <a:p>
            <a:pPr algn="r"/>
            <a:r>
              <a:rPr sz="800" i="1">
                <a:solidFill>
                  <a:srgbClr val="8899AA"/>
                </a:solidFill>
              </a:rPr>
              <a:t>Source: Federal Reserve, BLS, Rossignoli &amp; Partners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9</a:t>
            </a:r>
          </a:p>
        </p:txBody>
      </p:sp>
      <p:sp>
        <p:nvSpPr>
          <p:cNvPr id="10" name="Rounded Rectangle 9"/>
          <p:cNvSpPr/>
          <p:nvPr/>
        </p:nvSpPr>
        <p:spPr>
          <a:xfrm>
            <a:off x="548640" y="621792"/>
            <a:ext cx="1097280" cy="256032"/>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FFFFFF"/>
                </a:solidFill>
                <a:latin typeface="Arial"/>
              </a:rPr>
              <a:t>#macro</a:t>
            </a:r>
          </a:p>
        </p:txBody>
      </p:sp>
      <p:sp>
        <p:nvSpPr>
          <p:cNvPr id="11" name="TextBox 10"/>
          <p:cNvSpPr txBox="1"/>
          <p:nvPr/>
        </p:nvSpPr>
        <p:spPr>
          <a:xfrm>
            <a:off x="1097280" y="1188720"/>
            <a:ext cx="1371600" cy="1097280"/>
          </a:xfrm>
          <a:prstGeom prst="rect">
            <a:avLst/>
          </a:prstGeom>
          <a:noFill/>
        </p:spPr>
        <p:txBody>
          <a:bodyPr wrap="none">
            <a:spAutoFit/>
          </a:bodyPr>
          <a:lstStyle/>
          <a:p>
            <a:r>
              <a:rPr sz="12000" b="1">
                <a:solidFill>
                  <a:srgbClr val="E74C3C"/>
                </a:solidFill>
                <a:latin typeface="Georgia"/>
              </a:rPr>
              <a:t>“</a:t>
            </a:r>
          </a:p>
        </p:txBody>
      </p:sp>
      <p:sp>
        <p:nvSpPr>
          <p:cNvPr id="12" name="TextBox 11"/>
          <p:cNvSpPr txBox="1"/>
          <p:nvPr/>
        </p:nvSpPr>
        <p:spPr>
          <a:xfrm>
            <a:off x="2286000" y="1920240"/>
            <a:ext cx="8229600" cy="2194560"/>
          </a:xfrm>
          <a:prstGeom prst="rect">
            <a:avLst/>
          </a:prstGeom>
          <a:noFill/>
        </p:spPr>
        <p:txBody>
          <a:bodyPr wrap="square">
            <a:spAutoFit/>
          </a:bodyPr>
          <a:lstStyle/>
          <a:p>
            <a:pPr algn="l">
              <a:lnSpc>
                <a:spcPts val="2800"/>
              </a:lnSpc>
            </a:pPr>
            <a:r>
              <a:rPr sz="2200" i="1">
                <a:solidFill>
                  <a:srgbClr val="2C3E50"/>
                </a:solidFill>
                <a:latin typeface="Georgia"/>
              </a:rPr>
              <a:t>The market can remain irrational longer than you can remain solvent — but it cannot remain irrational longer than history.”</a:t>
            </a:r>
          </a:p>
        </p:txBody>
      </p:sp>
      <p:sp>
        <p:nvSpPr>
          <p:cNvPr id="13" name="TextBox 12"/>
          <p:cNvSpPr txBox="1"/>
          <p:nvPr/>
        </p:nvSpPr>
        <p:spPr>
          <a:xfrm>
            <a:off x="2286000" y="4206240"/>
            <a:ext cx="8229600" cy="365760"/>
          </a:xfrm>
          <a:prstGeom prst="rect">
            <a:avLst/>
          </a:prstGeom>
          <a:noFill/>
        </p:spPr>
        <p:txBody>
          <a:bodyPr wrap="none">
            <a:spAutoFit/>
          </a:bodyPr>
          <a:lstStyle/>
          <a:p>
            <a:pPr algn="r"/>
            <a:r>
              <a:rPr sz="1400" b="1">
                <a:solidFill>
                  <a:srgbClr val="E74C3C"/>
                </a:solidFill>
                <a:latin typeface="Arial"/>
              </a:rPr>
              <a:t>— Adapted from Keynes</a:t>
            </a:r>
          </a:p>
        </p:txBody>
      </p:sp>
      <p:sp>
        <p:nvSpPr>
          <p:cNvPr id="14" name="TextBox 13"/>
          <p:cNvSpPr txBox="1"/>
          <p:nvPr/>
        </p:nvSpPr>
        <p:spPr>
          <a:xfrm>
            <a:off x="1371600" y="5120640"/>
            <a:ext cx="9418320" cy="822960"/>
          </a:xfrm>
          <a:prstGeom prst="rect">
            <a:avLst/>
          </a:prstGeom>
          <a:noFill/>
        </p:spPr>
        <p:txBody>
          <a:bodyPr wrap="square">
            <a:spAutoFit/>
          </a:bodyPr>
          <a:lstStyle/>
          <a:p>
            <a:pPr>
              <a:lnSpc>
                <a:spcPts val="1500"/>
              </a:lnSpc>
            </a:pPr>
            <a:r>
              <a:rPr sz="1050">
                <a:solidFill>
                  <a:srgbClr val="2C3E50"/>
                </a:solidFill>
              </a:rPr>
              <a:t>Our positioning: Neutral equities with quality tilt. Overweight 7-10Y Treasuries. Underweight HY credit. Long gold as insurance. Short EUR/USD tactically.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6400800" cy="320040"/>
          </a:xfrm>
          <a:prstGeom prst="rect">
            <a:avLst/>
          </a:prstGeom>
          <a:noFill/>
        </p:spPr>
        <p:txBody>
          <a:bodyPr wrap="none">
            <a:spAutoFit/>
          </a:bodyPr>
          <a:lstStyle/>
          <a:p>
            <a:pPr>
              <a:spcBef>
                <a:spcPts val="400"/>
              </a:spcBef>
            </a:pPr>
            <a:r>
              <a:rPr sz="1000" b="1">
                <a:solidFill>
                  <a:srgbClr val="E8792B"/>
                </a:solidFill>
                <a:latin typeface="Arial"/>
              </a:rPr>
              <a:t>#GLOBALMARKETS WEEKLY WRAP-UP</a:t>
            </a:r>
          </a:p>
        </p:txBody>
      </p:sp>
      <p:sp>
        <p:nvSpPr>
          <p:cNvPr id="5" name="TextBox 4"/>
          <p:cNvSpPr txBox="1"/>
          <p:nvPr/>
        </p:nvSpPr>
        <p:spPr>
          <a:xfrm>
            <a:off x="8899855" y="109728"/>
            <a:ext cx="2743200" cy="320040"/>
          </a:xfrm>
          <a:prstGeom prst="rect">
            <a:avLst/>
          </a:prstGeom>
          <a:noFill/>
        </p:spPr>
        <p:txBody>
          <a:bodyPr wrap="none">
            <a:spAutoFit/>
          </a:bodyPr>
          <a:lstStyle/>
          <a:p>
            <a:pPr algn="r">
              <a:spcBef>
                <a:spcPts val="400"/>
              </a:spcBef>
            </a:pPr>
            <a:r>
              <a:rPr sz="1000">
                <a:solidFill>
                  <a:srgbClr val="6B7B8D"/>
                </a:solidFill>
                <a:latin typeface="Arial"/>
              </a:rPr>
              <a:t>3-7 February 2025</a:t>
            </a:r>
          </a:p>
        </p:txBody>
      </p:sp>
      <p:sp>
        <p:nvSpPr>
          <p:cNvPr id="6" name="Rectangle 5"/>
          <p:cNvSpPr/>
          <p:nvPr/>
        </p:nvSpPr>
        <p:spPr>
          <a:xfrm>
            <a:off x="548640" y="45720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263640"/>
            <a:ext cx="11094415" cy="1270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3657600" cy="365760"/>
          </a:xfrm>
          <a:prstGeom prst="rect">
            <a:avLst/>
          </a:prstGeom>
          <a:noFill/>
        </p:spPr>
        <p:txBody>
          <a:bodyPr wrap="none">
            <a:spAutoFit/>
          </a:bodyPr>
          <a:lstStyle/>
          <a:p>
            <a:r>
              <a:rPr sz="800" b="1">
                <a:solidFill>
                  <a:srgbClr val="E8792B"/>
                </a:solidFill>
                <a:latin typeface="Arial"/>
              </a:rPr>
              <a:t>Rossignoli &amp; Partners</a:t>
            </a:r>
          </a:p>
        </p:txBody>
      </p:sp>
      <p:sp>
        <p:nvSpPr>
          <p:cNvPr id="9" name="TextBox 8"/>
          <p:cNvSpPr txBox="1"/>
          <p:nvPr/>
        </p:nvSpPr>
        <p:spPr>
          <a:xfrm>
            <a:off x="9448495" y="6355080"/>
            <a:ext cx="2194560" cy="365760"/>
          </a:xfrm>
          <a:prstGeom prst="rect">
            <a:avLst/>
          </a:prstGeom>
          <a:noFill/>
        </p:spPr>
        <p:txBody>
          <a:bodyPr wrap="none">
            <a:spAutoFit/>
          </a:bodyPr>
          <a:lstStyle/>
          <a:p>
            <a:pPr algn="r"/>
            <a:r>
              <a:rPr sz="800">
                <a:solidFill>
                  <a:srgbClr val="8899AA"/>
                </a:solidFill>
                <a:latin typeface="Arial"/>
              </a:rPr>
              <a:t>Page 10</a:t>
            </a:r>
          </a:p>
        </p:txBody>
      </p:sp>
      <p:sp>
        <p:nvSpPr>
          <p:cNvPr id="10" name="TextBox 9"/>
          <p:cNvSpPr txBox="1"/>
          <p:nvPr/>
        </p:nvSpPr>
        <p:spPr>
          <a:xfrm>
            <a:off x="548640" y="640080"/>
            <a:ext cx="10515600" cy="731520"/>
          </a:xfrm>
          <a:prstGeom prst="rect">
            <a:avLst/>
          </a:prstGeom>
          <a:noFill/>
        </p:spPr>
        <p:txBody>
          <a:bodyPr wrap="square">
            <a:spAutoFit/>
          </a:bodyPr>
          <a:lstStyle/>
          <a:p>
            <a:r>
              <a:rPr sz="2200" b="1">
                <a:solidFill>
                  <a:srgbClr val="E8792B"/>
                </a:solidFill>
                <a:latin typeface="Arial"/>
              </a:rPr>
              <a:t>Sources &amp; Methodology</a:t>
            </a:r>
          </a:p>
        </p:txBody>
      </p:sp>
      <p:sp>
        <p:nvSpPr>
          <p:cNvPr id="11" name="TextBox 10"/>
          <p:cNvSpPr txBox="1"/>
          <p:nvPr/>
        </p:nvSpPr>
        <p:spPr>
          <a:xfrm>
            <a:off x="548640" y="1828800"/>
            <a:ext cx="5303520" cy="3840480"/>
          </a:xfrm>
          <a:prstGeom prst="rect">
            <a:avLst/>
          </a:prstGeom>
          <a:noFill/>
        </p:spPr>
        <p:txBody>
          <a:bodyPr wrap="square">
            <a:spAutoFit/>
          </a:bodyPr>
          <a:lstStyle/>
          <a:p>
            <a:pPr>
              <a:lnSpc>
                <a:spcPts val="1300"/>
              </a:lnSpc>
            </a:pPr>
            <a:r>
              <a:rPr sz="800">
                <a:solidFill>
                  <a:srgbClr val="2C3E50"/>
                </a:solidFill>
              </a:rPr>
              <a:t>Bloomberg Terminal
Refinitiv Eikon
Federal Reserve Economic Data (FRED)
BIS Statistics
BofA Global Research (Flow Show)
Goldman Sachs (Top of Mind)</a:t>
            </a:r>
          </a:p>
        </p:txBody>
      </p:sp>
      <p:sp>
        <p:nvSpPr>
          <p:cNvPr id="12" name="TextBox 11"/>
          <p:cNvSpPr txBox="1"/>
          <p:nvPr/>
        </p:nvSpPr>
        <p:spPr>
          <a:xfrm>
            <a:off x="6217920" y="1828800"/>
            <a:ext cx="5303520" cy="3840480"/>
          </a:xfrm>
          <a:prstGeom prst="rect">
            <a:avLst/>
          </a:prstGeom>
          <a:noFill/>
        </p:spPr>
        <p:txBody>
          <a:bodyPr wrap="square">
            <a:spAutoFit/>
          </a:bodyPr>
          <a:lstStyle/>
          <a:p>
            <a:pPr>
              <a:lnSpc>
                <a:spcPts val="1300"/>
              </a:lnSpc>
            </a:pPr>
            <a:r>
              <a:rPr sz="800">
                <a:solidFill>
                  <a:srgbClr val="2C3E50"/>
                </a:solidFill>
              </a:rPr>
              <a:t>JPMorgan (Guide to the Markets)
SYZ Group (#GlobalMarkets)
S&amp;P Global Market Intelligence
ICE BofA Index Data
CBOE VIX Data
Rossignoli &amp; Partners proprietary models</a:t>
            </a:r>
          </a:p>
        </p:txBody>
      </p:sp>
      <p:sp>
        <p:nvSpPr>
          <p:cNvPr id="13" name="Rectangle 12"/>
          <p:cNvSpPr/>
          <p:nvPr/>
        </p:nvSpPr>
        <p:spPr>
          <a:xfrm>
            <a:off x="5943600" y="1920240"/>
            <a:ext cx="12700" cy="3474720"/>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69280"/>
            <a:ext cx="10972800" cy="640080"/>
          </a:xfrm>
          <a:prstGeom prst="rect">
            <a:avLst/>
          </a:prstGeom>
          <a:noFill/>
        </p:spPr>
        <p:txBody>
          <a:bodyPr wrap="square">
            <a:spAutoFit/>
          </a:bodyPr>
          <a:lstStyle/>
          <a:p>
            <a:pPr>
              <a:lnSpc>
                <a:spcPts val="1100"/>
              </a:lnSpc>
            </a:pPr>
            <a:r>
              <a:rPr sz="700" i="1">
                <a:solidFill>
                  <a:srgbClr val="8899AA"/>
                </a:solidFill>
              </a:rPr>
              <a:t>This document is for informational purposes only and does not constitute investment advice. Past performance is not indicative of future results.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91695" cy="54864"/>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0" y="1828800"/>
            <a:ext cx="3931920" cy="25400"/>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103120"/>
            <a:ext cx="12191695" cy="822960"/>
          </a:xfrm>
          <a:prstGeom prst="rect">
            <a:avLst/>
          </a:prstGeom>
          <a:noFill/>
        </p:spPr>
        <p:txBody>
          <a:bodyPr wrap="none">
            <a:spAutoFit/>
          </a:bodyPr>
          <a:lstStyle/>
          <a:p>
            <a:pPr algn="ctr"/>
            <a:r>
              <a:rPr sz="4000" b="1">
                <a:solidFill>
                  <a:srgbClr val="2C3E50"/>
                </a:solidFill>
                <a:latin typeface="Arial"/>
              </a:rPr>
              <a:t>Rossignoli &amp; Partners</a:t>
            </a:r>
          </a:p>
        </p:txBody>
      </p:sp>
      <p:sp>
        <p:nvSpPr>
          <p:cNvPr id="7" name="TextBox 6"/>
          <p:cNvSpPr txBox="1"/>
          <p:nvPr/>
        </p:nvSpPr>
        <p:spPr>
          <a:xfrm>
            <a:off x="0" y="2971800"/>
            <a:ext cx="12191695" cy="457200"/>
          </a:xfrm>
          <a:prstGeom prst="rect">
            <a:avLst/>
          </a:prstGeom>
          <a:noFill/>
        </p:spPr>
        <p:txBody>
          <a:bodyPr wrap="none">
            <a:spAutoFit/>
          </a:bodyPr>
          <a:lstStyle/>
          <a:p>
            <a:pPr algn="ctr"/>
            <a:r>
              <a:rPr sz="1700" i="1">
                <a:solidFill>
                  <a:srgbClr val="E8792B"/>
                </a:solidFill>
                <a:latin typeface="Arial"/>
              </a:rPr>
              <a:t>Independent Market Intelligence</a:t>
            </a:r>
          </a:p>
        </p:txBody>
      </p:sp>
      <p:sp>
        <p:nvSpPr>
          <p:cNvPr id="8" name="TextBox 7"/>
          <p:cNvSpPr txBox="1"/>
          <p:nvPr/>
        </p:nvSpPr>
        <p:spPr>
          <a:xfrm>
            <a:off x="0" y="3749039"/>
            <a:ext cx="12191695" cy="320040"/>
          </a:xfrm>
          <a:prstGeom prst="rect">
            <a:avLst/>
          </a:prstGeom>
          <a:noFill/>
        </p:spPr>
        <p:txBody>
          <a:bodyPr wrap="none">
            <a:spAutoFit/>
          </a:bodyPr>
          <a:lstStyle/>
          <a:p>
            <a:pPr algn="ctr"/>
            <a:r>
              <a:rPr sz="1200">
                <a:solidFill>
                  <a:srgbClr val="6B7B8D"/>
                </a:solidFill>
                <a:latin typeface="Arial"/>
              </a:rPr>
              <a:t>research@rossignolipartners.com</a:t>
            </a:r>
          </a:p>
        </p:txBody>
      </p:sp>
      <p:sp>
        <p:nvSpPr>
          <p:cNvPr id="9" name="TextBox 8"/>
          <p:cNvSpPr txBox="1"/>
          <p:nvPr/>
        </p:nvSpPr>
        <p:spPr>
          <a:xfrm>
            <a:off x="0" y="4069079"/>
            <a:ext cx="12191695" cy="320040"/>
          </a:xfrm>
          <a:prstGeom prst="rect">
            <a:avLst/>
          </a:prstGeom>
          <a:noFill/>
        </p:spPr>
        <p:txBody>
          <a:bodyPr wrap="none">
            <a:spAutoFit/>
          </a:bodyPr>
          <a:lstStyle/>
          <a:p>
            <a:pPr algn="ctr"/>
            <a:r>
              <a:rPr sz="1200">
                <a:solidFill>
                  <a:srgbClr val="6B7B8D"/>
                </a:solidFill>
                <a:latin typeface="Arial"/>
              </a:rPr>
              <a:t>www.rossignolipartners.com</a:t>
            </a:r>
          </a:p>
        </p:txBody>
      </p:sp>
      <p:sp>
        <p:nvSpPr>
          <p:cNvPr id="10" name="Rectangle 9"/>
          <p:cNvSpPr/>
          <p:nvPr/>
        </p:nvSpPr>
        <p:spPr>
          <a:xfrm>
            <a:off x="4114800" y="4571999"/>
            <a:ext cx="3931920" cy="25400"/>
          </a:xfrm>
          <a:prstGeom prst="rect">
            <a:avLst/>
          </a:prstGeom>
          <a:solidFill>
            <a:srgbClr val="E87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0" y="4800599"/>
            <a:ext cx="12191695" cy="457200"/>
          </a:xfrm>
          <a:prstGeom prst="rect">
            <a:avLst/>
          </a:prstGeom>
          <a:noFill/>
        </p:spPr>
        <p:txBody>
          <a:bodyPr wrap="none">
            <a:spAutoFit/>
          </a:bodyPr>
          <a:lstStyle/>
          <a:p>
            <a:pPr algn="ctr"/>
            <a:r>
              <a:rPr sz="1700" i="1">
                <a:solidFill>
                  <a:srgbClr val="2C3E50"/>
                </a:solidFill>
              </a:rPr>
              <a:t>Have a great week-end!</a:t>
            </a:r>
          </a:p>
        </p:txBody>
      </p:sp>
      <p:sp>
        <p:nvSpPr>
          <p:cNvPr id="12" name="TextBox 11"/>
          <p:cNvSpPr txBox="1"/>
          <p:nvPr/>
        </p:nvSpPr>
        <p:spPr>
          <a:xfrm>
            <a:off x="0" y="5760720"/>
            <a:ext cx="12191695" cy="320040"/>
          </a:xfrm>
          <a:prstGeom prst="rect">
            <a:avLst/>
          </a:prstGeom>
          <a:noFill/>
        </p:spPr>
        <p:txBody>
          <a:bodyPr wrap="none">
            <a:spAutoFit/>
          </a:bodyPr>
          <a:lstStyle/>
          <a:p>
            <a:pPr algn="ctr"/>
            <a:r>
              <a:rPr sz="900">
                <a:solidFill>
                  <a:srgbClr val="8899AA"/>
                </a:solidFill>
              </a:rPr>
              <a:t>This material is provided for informational purposes only.</a:t>
            </a:r>
          </a:p>
        </p:txBody>
      </p:sp>
      <p:sp>
        <p:nvSpPr>
          <p:cNvPr id="13" name="TextBox 12"/>
          <p:cNvSpPr txBox="1"/>
          <p:nvPr/>
        </p:nvSpPr>
        <p:spPr>
          <a:xfrm>
            <a:off x="0" y="6126480"/>
            <a:ext cx="12191695" cy="320040"/>
          </a:xfrm>
          <a:prstGeom prst="rect">
            <a:avLst/>
          </a:prstGeom>
          <a:noFill/>
        </p:spPr>
        <p:txBody>
          <a:bodyPr wrap="none">
            <a:spAutoFit/>
          </a:bodyPr>
          <a:lstStyle/>
          <a:p>
            <a:pPr algn="ctr"/>
            <a:r>
              <a:rPr sz="800">
                <a:solidFill>
                  <a:srgbClr val="8899AA"/>
                </a:solidFill>
              </a:rPr>
              <a:t>© 2025 Rossignoli &amp; Partners.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